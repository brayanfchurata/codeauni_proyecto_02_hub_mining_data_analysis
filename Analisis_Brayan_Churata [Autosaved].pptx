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20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62" r:id="rId4"/>
    <p:sldId id="263" r:id="rId5"/>
    <p:sldId id="259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A5F"/>
    <a:srgbClr val="FFFFFF"/>
    <a:srgbClr val="000000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C80A1-9B47-8309-CF0A-EE778D15D9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C201F-74A9-4F21-275C-6AC62DBC58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143DC-613F-D8F8-0C59-34EBD8D36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1575-B284-40F3-8153-4A4F0159DDE3}" type="datetimeFigureOut">
              <a:rPr lang="es-PE" smtClean="0"/>
              <a:t>21/04/2026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ED52C-C47D-5BDD-5BE6-8F31AC680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122F8-DB11-71A7-0282-BB20BD51F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82D86-A34F-4E7F-B6D6-415DC3729FB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987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88F7B-CD3D-54B9-58DD-09DC4E858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ACD05-A0C2-E23E-D701-90D9BC557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B44D2-11CD-8E29-581B-38015E96E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1575-B284-40F3-8153-4A4F0159DDE3}" type="datetimeFigureOut">
              <a:rPr lang="es-PE" smtClean="0"/>
              <a:t>21/04/2026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B38F9-3AB5-17E1-5FC4-F2FE09FE3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2D758-A535-16AD-0A1B-B5EAAD6D5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82D86-A34F-4E7F-B6D6-415DC3729FB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77504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4730A-0761-9A8C-1242-9ADB25650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D63D2-2696-BE39-333A-406C61902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8E5BE-F6D2-6A26-5FF9-C3E5F869A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1575-B284-40F3-8153-4A4F0159DDE3}" type="datetimeFigureOut">
              <a:rPr lang="es-PE" smtClean="0"/>
              <a:t>21/04/2026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2E59F-3F51-1465-E531-0A1BB4E54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6CCD6-63DE-9477-DA60-8417A7E76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82D86-A34F-4E7F-B6D6-415DC3729FB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728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6897-DC01-813C-FF90-C722E25DA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FEA51-6721-AF1B-BC29-2351F25710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B18C89-5331-507C-22A7-22804E0662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3CBBB2-03DA-0597-9976-9488114F0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1575-B284-40F3-8153-4A4F0159DDE3}" type="datetimeFigureOut">
              <a:rPr lang="es-PE" smtClean="0"/>
              <a:t>21/04/2026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7B6C90-CDEA-1821-CBAD-75BA123E5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4D6C51-D5F5-89EC-E1E5-EC148FED7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82D86-A34F-4E7F-B6D6-415DC3729FB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44396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BDC7D-98C2-2B77-4A97-2ACF25005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E6377F-BC51-67C3-5B17-2251030FA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2F797-1F76-9DA1-F524-73A0223240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327211-207A-64A4-76D4-9EE384613C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4CA96E-2811-7488-72D9-B940B6EAE1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908EF0-6227-578C-A270-75CFB7BE1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1575-B284-40F3-8153-4A4F0159DDE3}" type="datetimeFigureOut">
              <a:rPr lang="es-PE" smtClean="0"/>
              <a:t>21/04/2026</a:t>
            </a:fld>
            <a:endParaRPr lang="es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C6CF69-0642-06E5-DE03-4F1AD2E16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6E021B-9B9B-F719-986B-7D26C7B9B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82D86-A34F-4E7F-B6D6-415DC3729FB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12565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040B0-C102-AEF8-103E-1B9F974C4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623362-B56D-FFB9-C402-6D49638BE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1575-B284-40F3-8153-4A4F0159DDE3}" type="datetimeFigureOut">
              <a:rPr lang="es-PE" smtClean="0"/>
              <a:t>21/04/2026</a:t>
            </a:fld>
            <a:endParaRPr lang="es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540949-E43F-14BA-6E8E-CFACD9719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18B2B-3DB0-71E8-A1CD-2625CAB06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82D86-A34F-4E7F-B6D6-415DC3729FB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40920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05F828-1174-BCFD-1809-208387488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1575-B284-40F3-8153-4A4F0159DDE3}" type="datetimeFigureOut">
              <a:rPr lang="es-PE" smtClean="0"/>
              <a:t>21/04/2026</a:t>
            </a:fld>
            <a:endParaRPr lang="es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BC976A-8C20-DA01-59D7-AE4CD1A63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965AC-19A4-344B-A791-BAAE9D402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82D86-A34F-4E7F-B6D6-415DC3729FB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32110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FD772-F622-60D1-929C-9334D1485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30FB5-782C-AE51-9F1F-0D90EE52C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97851-BF51-6366-60D4-F12C98171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FE513-F442-18C5-17ED-BAA445D1D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1575-B284-40F3-8153-4A4F0159DDE3}" type="datetimeFigureOut">
              <a:rPr lang="es-PE" smtClean="0"/>
              <a:t>21/04/2026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FB8424-A21D-F7FE-FFE9-E48CEFD3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5AD43-7AF6-9A16-7BE0-6330B049A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82D86-A34F-4E7F-B6D6-415DC3729FB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03323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EF002-AE40-A367-09F3-84382507E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0CF670-86F3-4DC9-9D71-8A516A36B9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8ACE5-52F8-DE89-2F0C-D318947D5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6B4E8-5F07-5EED-03FD-F274A86A0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1575-B284-40F3-8153-4A4F0159DDE3}" type="datetimeFigureOut">
              <a:rPr lang="es-PE" smtClean="0"/>
              <a:t>21/04/2026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46D466-A09C-7A88-84A5-2E70898CB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5E3CD-FE6C-D556-2059-04A8D0796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82D86-A34F-4E7F-B6D6-415DC3729FB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20996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F81C-FB46-9CCD-183B-88FBC75D4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F02C73-3529-5B8B-B3C2-41E6B48CDF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2503A-DA48-5A9C-71F4-981D84796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1575-B284-40F3-8153-4A4F0159DDE3}" type="datetimeFigureOut">
              <a:rPr lang="es-PE" smtClean="0"/>
              <a:t>21/04/2026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57663-6133-B875-2D84-AC4A254D3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B62CA-8ADF-ADA4-EF84-65F42C061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82D86-A34F-4E7F-B6D6-415DC3729FB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4928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BAC902-C392-BC69-F309-8252BD28AF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223C5A-F7A1-A001-740D-E2CEC41EB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F9774-468E-8179-E180-B1C0371CF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1575-B284-40F3-8153-4A4F0159DDE3}" type="datetimeFigureOut">
              <a:rPr lang="es-PE" smtClean="0"/>
              <a:t>21/04/2026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AAA5E-AA4F-3AB7-9322-3FACA40F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225FD-5755-54C7-D1B2-974CED862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82D86-A34F-4E7F-B6D6-415DC3729FB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59697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B694E3-896C-98CB-C5DF-D42139A16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85301-8BE1-9B1F-6662-35C7F5333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C2DA5-D7D7-23A9-A875-0A4FF116C2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9C1575-B284-40F3-8153-4A4F0159DDE3}" type="datetimeFigureOut">
              <a:rPr lang="es-PE" smtClean="0"/>
              <a:t>21/04/2026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C1CED-52F3-BBA1-9D47-431C012100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C5DEE-F7C7-D3AB-149F-69052DD4D7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C82D86-A34F-4E7F-B6D6-415DC3729FB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59002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sv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11" Type="http://schemas.microsoft.com/office/2007/relationships/hdphoto" Target="../media/hdphoto2.wdp"/><Relationship Id="rId5" Type="http://schemas.openxmlformats.org/officeDocument/2006/relationships/image" Target="../media/image4.png"/><Relationship Id="rId15" Type="http://schemas.openxmlformats.org/officeDocument/2006/relationships/image" Target="../media/image12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11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2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EF7C5-95ED-80CB-7970-DCE7AB1B6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6353C4B-C7F9-0BB3-4B09-3337AD6446B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6785192-A590-9D92-CA22-F39A7E9F5461}"/>
              </a:ext>
            </a:extLst>
          </p:cNvPr>
          <p:cNvSpPr/>
          <p:nvPr/>
        </p:nvSpPr>
        <p:spPr>
          <a:xfrm>
            <a:off x="9782367" y="3956888"/>
            <a:ext cx="2409633" cy="2901112"/>
          </a:xfrm>
          <a:prstGeom prst="rect">
            <a:avLst/>
          </a:prstGeom>
          <a:solidFill>
            <a:srgbClr val="7F7F7F">
              <a:alpha val="2117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89F8194-693E-7386-89F1-699291D13A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563" y="5240095"/>
            <a:ext cx="3273500" cy="1488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DDFC844-B687-4D0C-F088-5EBD1C8DECAC}"/>
              </a:ext>
            </a:extLst>
          </p:cNvPr>
          <p:cNvSpPr/>
          <p:nvPr/>
        </p:nvSpPr>
        <p:spPr>
          <a:xfrm>
            <a:off x="0" y="897524"/>
            <a:ext cx="12192000" cy="1138773"/>
          </a:xfrm>
          <a:prstGeom prst="rect">
            <a:avLst/>
          </a:prstGeom>
          <a:solidFill>
            <a:schemeClr val="tx1">
              <a:lumMod val="50000"/>
              <a:lumOff val="50000"/>
              <a:alpha val="6902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1CE2434-C4A3-2129-69D0-638605EB014A}"/>
              </a:ext>
            </a:extLst>
          </p:cNvPr>
          <p:cNvSpPr/>
          <p:nvPr/>
        </p:nvSpPr>
        <p:spPr>
          <a:xfrm>
            <a:off x="4892224" y="895834"/>
            <a:ext cx="6398076" cy="525969"/>
          </a:xfrm>
          <a:prstGeom prst="round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15FF75-D3A1-B956-56B1-CD4C0EAC3FC9}"/>
              </a:ext>
            </a:extLst>
          </p:cNvPr>
          <p:cNvSpPr txBox="1"/>
          <p:nvPr/>
        </p:nvSpPr>
        <p:spPr>
          <a:xfrm>
            <a:off x="0" y="838408"/>
            <a:ext cx="11439350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2000505000000020004" pitchFamily="2" charset="0"/>
              </a:rPr>
              <a:t>ANÁLITICA DE DATOS   </a:t>
            </a:r>
            <a:r>
              <a:rPr lang="es-PE" sz="3600" b="1" u="sng" dirty="0">
                <a:solidFill>
                  <a:srgbClr val="1F3A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2000505000000020004" pitchFamily="2" charset="0"/>
              </a:rPr>
              <a:t>“INTEGRATION HUB v.3.11”</a:t>
            </a:r>
          </a:p>
          <a:p>
            <a:r>
              <a:rPr lang="es-PE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2000505000000020004" pitchFamily="2" charset="0"/>
              </a:rPr>
              <a:t>INTEGRANDO </a:t>
            </a:r>
            <a:r>
              <a:rPr lang="es-PE" sz="3200" b="1" dirty="0">
                <a:solidFill>
                  <a:srgbClr val="1F3A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2000505000000020004" pitchFamily="2" charset="0"/>
              </a:rPr>
              <a:t>PYTHON</a:t>
            </a:r>
            <a:r>
              <a:rPr lang="es-PE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2000505000000020004" pitchFamily="2" charset="0"/>
              </a:rPr>
              <a:t> AL SISTEMA DE DECISIONES</a:t>
            </a:r>
            <a:endParaRPr lang="es-PE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2000505000000020004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7021F2-0B52-4E10-4D9C-932496E1FF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191" y="190222"/>
            <a:ext cx="1971103" cy="377282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166039F-CD40-B681-94E7-516DFE5ED934}"/>
              </a:ext>
            </a:extLst>
          </p:cNvPr>
          <p:cNvSpPr/>
          <p:nvPr/>
        </p:nvSpPr>
        <p:spPr>
          <a:xfrm>
            <a:off x="9785020" y="3778778"/>
            <a:ext cx="2303283" cy="2665398"/>
          </a:xfrm>
          <a:prstGeom prst="roundRect">
            <a:avLst/>
          </a:prstGeom>
          <a:solidFill>
            <a:srgbClr val="7F7F7F">
              <a:alpha val="188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" name="Picture 2" descr="imagen de perfil">
            <a:extLst>
              <a:ext uri="{FF2B5EF4-FFF2-40B4-BE49-F238E27FC236}">
                <a16:creationId xmlns:a16="http://schemas.microsoft.com/office/drawing/2014/main" id="{3B7A4607-1ABC-C435-AE47-EDA06A1A28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7750" l="10000" r="90000">
                        <a14:foregroundMark x1="31875" y1="94250" x2="59625" y2="92125"/>
                        <a14:foregroundMark x1="59625" y1="92125" x2="65000" y2="92125"/>
                        <a14:foregroundMark x1="52750" y1="93875" x2="39500" y2="93875"/>
                        <a14:foregroundMark x1="62125" y1="96625" x2="55250" y2="97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6822" y="3778778"/>
            <a:ext cx="2619677" cy="2619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041446-2A32-24D9-68D9-FC8BAFCE146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836868" y="6444176"/>
            <a:ext cx="2303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000" dirty="0">
                <a:solidFill>
                  <a:schemeClr val="bg1"/>
                </a:solidFill>
                <a:latin typeface="Montserrat" panose="02000505000000020004" pitchFamily="2" charset="0"/>
              </a:rPr>
              <a:t>Brayan Churata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56A5971-EC4C-67B3-D2E8-A74114994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44" y="168582"/>
            <a:ext cx="1207776" cy="488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atplotlib: Zero to Hero. Created by materialdatascience A.I.GPT… | by  Material Data Science | Dev Genius">
            <a:extLst>
              <a:ext uri="{FF2B5EF4-FFF2-40B4-BE49-F238E27FC236}">
                <a16:creationId xmlns:a16="http://schemas.microsoft.com/office/drawing/2014/main" id="{661223E4-3C7F-0D8E-FA2B-F15D9F5BF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730" y="145052"/>
            <a:ext cx="1467566" cy="489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C1BF0960-4474-1F5D-19B3-999510D8E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0642" y="86628"/>
            <a:ext cx="1205672" cy="542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GUI Programming with Python Tkinter | by Pramodani Jayakodi | Medium">
            <a:extLst>
              <a:ext uri="{FF2B5EF4-FFF2-40B4-BE49-F238E27FC236}">
                <a16:creationId xmlns:a16="http://schemas.microsoft.com/office/drawing/2014/main" id="{59E680DD-6089-B4D7-D018-E0F194F528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780" b="89976" l="5735" r="93235">
                        <a14:foregroundMark x1="27206" y1="30318" x2="10882" y2="31051"/>
                        <a14:foregroundMark x1="10882" y1="31051" x2="6912" y2="44010"/>
                        <a14:foregroundMark x1="6912" y1="44010" x2="8824" y2="56724"/>
                        <a14:foregroundMark x1="8824" y1="56724" x2="15000" y2="67726"/>
                        <a14:foregroundMark x1="15000" y1="67726" x2="15000" y2="68215"/>
                        <a14:foregroundMark x1="45588" y1="46699" x2="45588" y2="46699"/>
                        <a14:foregroundMark x1="52500" y1="45721" x2="52500" y2="45721"/>
                        <a14:foregroundMark x1="60882" y1="49878" x2="60882" y2="49878"/>
                        <a14:foregroundMark x1="61176" y1="37897" x2="61176" y2="37897"/>
                        <a14:foregroundMark x1="70441" y1="45232" x2="70441" y2="45232"/>
                        <a14:foregroundMark x1="76324" y1="43765" x2="76324" y2="43765"/>
                        <a14:foregroundMark x1="84853" y1="44010" x2="84853" y2="44010"/>
                        <a14:foregroundMark x1="87500" y1="46944" x2="87500" y2="46944"/>
                        <a14:foregroundMark x1="93382" y1="45721" x2="93382" y2="45721"/>
                        <a14:foregroundMark x1="5882" y1="44743" x2="5735" y2="47433"/>
                        <a14:foregroundMark x1="45588" y1="48900" x2="45588" y2="49878"/>
                        <a14:foregroundMark x1="45588" y1="41076" x2="45588" y2="41076"/>
                        <a14:foregroundMark x1="45441" y1="37408" x2="45441" y2="37408"/>
                        <a14:foregroundMark x1="45294" y1="53545" x2="45294" y2="53545"/>
                        <a14:foregroundMark x1="45294" y1="57457" x2="45294" y2="57457"/>
                        <a14:foregroundMark x1="55294" y1="48655" x2="55294" y2="48655"/>
                        <a14:foregroundMark x1="57500" y1="44988" x2="57500" y2="44988"/>
                        <a14:foregroundMark x1="61471" y1="48411" x2="61471" y2="48411"/>
                        <a14:foregroundMark x1="66176" y1="45721" x2="66176" y2="45721"/>
                        <a14:foregroundMark x1="65294" y1="52567" x2="65294" y2="52567"/>
                        <a14:foregroundMark x1="61471" y1="55257" x2="61471" y2="55257"/>
                        <a14:foregroundMark x1="61324" y1="46210" x2="61324" y2="4621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2224" y="18889"/>
            <a:ext cx="1232834" cy="74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967EB370-1CFB-860D-77A9-1FC217487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5978" y="115840"/>
            <a:ext cx="1451222" cy="484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1614FC3-6018-D9D2-000D-625605986A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713109" y="76730"/>
            <a:ext cx="628650" cy="5524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5F61839-7C7A-5620-A8C4-935253888D5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717" y="868569"/>
            <a:ext cx="970293" cy="958761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3963A16-6044-8BA1-5970-B408D0245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2216" y="65256"/>
            <a:ext cx="587566" cy="681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3383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0E4AA1B-AA3C-5D5F-4D8C-01E96D73C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50319"/>
            <a:ext cx="1456372" cy="662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96EB7D7-F36C-C81D-ADAF-A09E431EF5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93192"/>
            <a:ext cx="12192000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84DB6F-428E-2E5D-102A-1613D13DC36F}"/>
              </a:ext>
            </a:extLst>
          </p:cNvPr>
          <p:cNvSpPr txBox="1"/>
          <p:nvPr/>
        </p:nvSpPr>
        <p:spPr>
          <a:xfrm>
            <a:off x="79355" y="593104"/>
            <a:ext cx="5311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2000505000000020004" pitchFamily="2" charset="0"/>
              </a:rPr>
              <a:t>ANALITICA DE DATOS - PANDAS</a:t>
            </a:r>
            <a:endParaRPr lang="es-PE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2000505000000020004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F085DC-333D-C6A6-E829-AC0166288E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915" y="680563"/>
            <a:ext cx="1535674" cy="2939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A3FA35-46DB-E934-217B-01220686B2D1}"/>
              </a:ext>
            </a:extLst>
          </p:cNvPr>
          <p:cNvSpPr txBox="1"/>
          <p:nvPr/>
        </p:nvSpPr>
        <p:spPr>
          <a:xfrm>
            <a:off x="10232136" y="6423739"/>
            <a:ext cx="30083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dirty="0">
                <a:solidFill>
                  <a:srgbClr val="1F3A5F"/>
                </a:solidFill>
                <a:latin typeface="Montserrat" panose="02000505000000020004" pitchFamily="2" charset="0"/>
              </a:rPr>
              <a:t>Brayan Churata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7DC76B0-6CC7-E15A-D3B6-7B750E75B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1" y="2320166"/>
            <a:ext cx="3478863" cy="2318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F3A5F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s-ES" altLang="es-PE" sz="1400" b="1" i="0" u="none" strike="noStrike" cap="none" normalizeH="0" baseline="0" dirty="0">
                <a:ln>
                  <a:noFill/>
                </a:ln>
                <a:solidFill>
                  <a:srgbClr val="1F3A5F"/>
                </a:solidFill>
                <a:effectLst/>
                <a:latin typeface="Montserrat" panose="02000505000000020004" pitchFamily="2" charset="0"/>
              </a:rPr>
              <a:t>Variabilidad</a:t>
            </a:r>
            <a:r>
              <a:rPr kumimoji="0" lang="es-ES" altLang="es-P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2000505000000020004" pitchFamily="2" charset="0"/>
              </a:rPr>
              <a:t> en ley de Cu, arsénico y recuperación.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F3A5F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s-ES" altLang="es-P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2000505000000020004" pitchFamily="2" charset="0"/>
              </a:rPr>
              <a:t>Múltiples </a:t>
            </a:r>
            <a:r>
              <a:rPr kumimoji="0" lang="es-ES" altLang="es-PE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2000505000000020004" pitchFamily="2" charset="0"/>
              </a:rPr>
              <a:t>stockpiles</a:t>
            </a:r>
            <a:r>
              <a:rPr kumimoji="0" lang="es-ES" altLang="es-P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2000505000000020004" pitchFamily="2" charset="0"/>
              </a:rPr>
              <a:t> disponibles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F3A5F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s-ES" altLang="es-PE" sz="1400" b="1" i="0" u="none" strike="noStrike" cap="none" normalizeH="0" baseline="0" dirty="0">
                <a:ln>
                  <a:noFill/>
                </a:ln>
                <a:solidFill>
                  <a:srgbClr val="1F3A5F"/>
                </a:solidFill>
                <a:effectLst/>
                <a:latin typeface="Montserrat" panose="02000505000000020004" pitchFamily="2" charset="0"/>
              </a:rPr>
              <a:t>Dificultad</a:t>
            </a:r>
            <a:r>
              <a:rPr kumimoji="0" lang="es-ES" altLang="es-P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2000505000000020004" pitchFamily="2" charset="0"/>
              </a:rPr>
              <a:t> para cumplir </a:t>
            </a:r>
            <a:r>
              <a:rPr kumimoji="0" lang="es-ES" altLang="es-PE" sz="1400" b="1" i="0" u="none" strike="noStrike" cap="none" normalizeH="0" baseline="0" dirty="0">
                <a:ln>
                  <a:noFill/>
                </a:ln>
                <a:solidFill>
                  <a:srgbClr val="1F3A5F"/>
                </a:solidFill>
                <a:effectLst/>
                <a:latin typeface="Montserrat" panose="02000505000000020004" pitchFamily="2" charset="0"/>
              </a:rPr>
              <a:t>especificaciones de planta.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F3A5F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s-ES" altLang="es-P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2000505000000020004" pitchFamily="2" charset="0"/>
              </a:rPr>
              <a:t>Riesgo de penalidades o rechazo del mineral.</a:t>
            </a:r>
            <a:endParaRPr kumimoji="0" lang="es-PE" altLang="es-P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2000505000000020004" pitchFamily="2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703800B3-00E0-4643-C3BF-C7B12B357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688" y="1690142"/>
            <a:ext cx="2100351" cy="461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F3A5F"/>
              </a:buClr>
              <a:buSzTx/>
              <a:tabLst/>
            </a:pPr>
            <a:r>
              <a:rPr lang="es-PE" altLang="es-PE" b="1" dirty="0">
                <a:solidFill>
                  <a:srgbClr val="1F3A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2000505000000020004" pitchFamily="2" charset="0"/>
              </a:rPr>
              <a:t>PROBLEMA</a:t>
            </a:r>
            <a:endParaRPr kumimoji="0" lang="es-PE" altLang="es-PE" b="1" i="0" u="none" strike="noStrike" cap="none" normalizeH="0" baseline="0" dirty="0">
              <a:ln>
                <a:noFill/>
              </a:ln>
              <a:solidFill>
                <a:srgbClr val="1F3A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2000505000000020004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6F1E90A-4FBD-7198-BD3A-4B6A897BCB90}"/>
              </a:ext>
            </a:extLst>
          </p:cNvPr>
          <p:cNvCxnSpPr>
            <a:cxnSpLocks/>
          </p:cNvCxnSpPr>
          <p:nvPr/>
        </p:nvCxnSpPr>
        <p:spPr>
          <a:xfrm>
            <a:off x="3941064" y="1261872"/>
            <a:ext cx="0" cy="4672584"/>
          </a:xfrm>
          <a:prstGeom prst="line">
            <a:avLst/>
          </a:prstGeom>
          <a:ln w="38100">
            <a:solidFill>
              <a:srgbClr val="1F3A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3">
            <a:extLst>
              <a:ext uri="{FF2B5EF4-FFF2-40B4-BE49-F238E27FC236}">
                <a16:creationId xmlns:a16="http://schemas.microsoft.com/office/drawing/2014/main" id="{0328F835-C3D5-90CE-3506-10D906987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0025" y="1690142"/>
            <a:ext cx="2851834" cy="461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F3A5F"/>
              </a:buClr>
              <a:buSzTx/>
              <a:tabLst/>
            </a:pPr>
            <a:r>
              <a:rPr lang="es-PE" altLang="es-PE" b="1" dirty="0">
                <a:solidFill>
                  <a:srgbClr val="1F3A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2000505000000020004" pitchFamily="2" charset="0"/>
              </a:rPr>
              <a:t>SOLUCIÓN (PYTHON)</a:t>
            </a:r>
            <a:endParaRPr kumimoji="0" lang="es-PE" altLang="es-PE" b="1" i="0" u="none" strike="noStrike" cap="none" normalizeH="0" baseline="0" dirty="0">
              <a:ln>
                <a:noFill/>
              </a:ln>
              <a:solidFill>
                <a:srgbClr val="1F3A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2000505000000020004" pitchFamily="2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9EF9F-6D73-F831-A461-1E47D52FD7BA}"/>
              </a:ext>
            </a:extLst>
          </p:cNvPr>
          <p:cNvCxnSpPr>
            <a:cxnSpLocks/>
          </p:cNvCxnSpPr>
          <p:nvPr/>
        </p:nvCxnSpPr>
        <p:spPr>
          <a:xfrm>
            <a:off x="8601456" y="1261872"/>
            <a:ext cx="0" cy="4672584"/>
          </a:xfrm>
          <a:prstGeom prst="line">
            <a:avLst/>
          </a:prstGeom>
          <a:ln w="38100">
            <a:solidFill>
              <a:srgbClr val="1F3A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66F130F-6C40-45DE-CBD6-79AC7DD51651}"/>
              </a:ext>
            </a:extLst>
          </p:cNvPr>
          <p:cNvGrpSpPr/>
          <p:nvPr/>
        </p:nvGrpSpPr>
        <p:grpSpPr>
          <a:xfrm>
            <a:off x="4269083" y="2128324"/>
            <a:ext cx="4004354" cy="3233744"/>
            <a:chOff x="4323909" y="2715105"/>
            <a:chExt cx="3478863" cy="3281845"/>
          </a:xfrm>
        </p:grpSpPr>
        <p:sp>
          <p:nvSpPr>
            <p:cNvPr id="15" name="Rectangle 3">
              <a:extLst>
                <a:ext uri="{FF2B5EF4-FFF2-40B4-BE49-F238E27FC236}">
                  <a16:creationId xmlns:a16="http://schemas.microsoft.com/office/drawing/2014/main" id="{ED4E9076-89AC-22DC-B98F-EF9B8FB947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3910" y="2715105"/>
              <a:ext cx="3478862" cy="2680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285750" marR="0" lvl="0" indent="-285750" algn="just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1F3A5F"/>
                </a:buClr>
                <a:buSzTx/>
                <a:buFont typeface="Wingdings" panose="05000000000000000000" pitchFamily="2" charset="2"/>
                <a:buChar char="§"/>
                <a:tabLst/>
              </a:pPr>
              <a:r>
                <a:rPr kumimoji="0" lang="es-ES" altLang="es-PE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2000505000000020004" pitchFamily="2" charset="0"/>
                </a:rPr>
                <a:t>Importación de datos (Excel / interfaz)</a:t>
              </a:r>
            </a:p>
            <a:p>
              <a:pPr marL="285750" marR="0" lvl="0" indent="-285750" algn="just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1F3A5F"/>
                </a:buClr>
                <a:buSzTx/>
                <a:buFont typeface="Wingdings" panose="05000000000000000000" pitchFamily="2" charset="2"/>
                <a:buChar char="§"/>
                <a:tabLst/>
              </a:pPr>
              <a:r>
                <a:rPr kumimoji="0" lang="es-ES" altLang="es-PE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2000505000000020004" pitchFamily="2" charset="0"/>
                </a:rPr>
                <a:t>Cálculo automático del </a:t>
              </a:r>
              <a:r>
                <a:rPr kumimoji="0" lang="es-ES" altLang="es-PE" sz="14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2000505000000020004" pitchFamily="2" charset="0"/>
                </a:rPr>
                <a:t>blend</a:t>
              </a:r>
              <a:endParaRPr kumimoji="0" lang="es-ES" altLang="es-P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2000505000000020004" pitchFamily="2" charset="0"/>
              </a:endParaRPr>
            </a:p>
            <a:p>
              <a:pPr marL="285750" marR="0" lvl="0" indent="-285750" algn="just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1F3A5F"/>
                </a:buClr>
                <a:buSzTx/>
                <a:buFont typeface="Wingdings" panose="05000000000000000000" pitchFamily="2" charset="2"/>
                <a:buChar char="§"/>
                <a:tabLst/>
              </a:pPr>
              <a:r>
                <a:rPr kumimoji="0" lang="es-ES" altLang="es-PE" sz="1400" b="1" i="0" u="none" strike="noStrike" cap="none" normalizeH="0" baseline="0" dirty="0">
                  <a:ln>
                    <a:noFill/>
                  </a:ln>
                  <a:solidFill>
                    <a:srgbClr val="1F3A5F"/>
                  </a:solidFill>
                  <a:effectLst/>
                  <a:latin typeface="Montserrat" panose="02000505000000020004" pitchFamily="2" charset="0"/>
                </a:rPr>
                <a:t>Evaluación de restricciones</a:t>
              </a:r>
              <a:r>
                <a:rPr kumimoji="0" lang="es-ES" altLang="es-PE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2000505000000020004" pitchFamily="2" charset="0"/>
                </a:rPr>
                <a:t>:</a:t>
              </a:r>
            </a:p>
            <a:p>
              <a:pPr marL="742950" lvl="1" indent="-285750"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1F3A5F"/>
                </a:buClr>
                <a:buFont typeface="Wingdings" panose="05000000000000000000" pitchFamily="2" charset="2"/>
                <a:buChar char="§"/>
              </a:pPr>
              <a:r>
                <a:rPr kumimoji="0" lang="es-ES" altLang="es-PE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2000505000000020004" pitchFamily="2" charset="0"/>
                </a:rPr>
                <a:t>Ley Cu</a:t>
              </a:r>
            </a:p>
            <a:p>
              <a:pPr marL="742950" lvl="1" indent="-285750"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1F3A5F"/>
                </a:buClr>
                <a:buFont typeface="Wingdings" panose="05000000000000000000" pitchFamily="2" charset="2"/>
                <a:buChar char="§"/>
              </a:pPr>
              <a:r>
                <a:rPr kumimoji="0" lang="es-ES" altLang="es-PE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2000505000000020004" pitchFamily="2" charset="0"/>
                </a:rPr>
                <a:t>Arsénico</a:t>
              </a:r>
            </a:p>
            <a:p>
              <a:pPr marL="742950" lvl="1" indent="-285750"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1F3A5F"/>
                </a:buClr>
                <a:buFont typeface="Wingdings" panose="05000000000000000000" pitchFamily="2" charset="2"/>
                <a:buChar char="§"/>
              </a:pPr>
              <a:r>
                <a:rPr kumimoji="0" lang="es-ES" altLang="es-PE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2000505000000020004" pitchFamily="2" charset="0"/>
                </a:rPr>
                <a:t>Tonelaje</a:t>
              </a:r>
            </a:p>
            <a:p>
              <a:pPr marL="742950" lvl="1" indent="-285750"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1F3A5F"/>
                </a:buClr>
                <a:buFont typeface="Wingdings" panose="05000000000000000000" pitchFamily="2" charset="2"/>
                <a:buChar char="§"/>
              </a:pPr>
              <a:endParaRPr lang="es-ES" altLang="es-PE" sz="1400" dirty="0">
                <a:latin typeface="Montserrat" panose="02000505000000020004" pitchFamily="2" charset="0"/>
              </a:endParaRPr>
            </a:p>
          </p:txBody>
        </p:sp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094A86AD-5E39-3CD6-4F6D-CA8077BE16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3909" y="4956288"/>
              <a:ext cx="3478862" cy="10406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285750" indent="-285750"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1F3A5F"/>
                </a:buClr>
                <a:buFont typeface="Wingdings" panose="05000000000000000000" pitchFamily="2" charset="2"/>
                <a:buChar char="§"/>
              </a:pPr>
              <a:r>
                <a:rPr kumimoji="0" lang="es-ES" altLang="es-PE" sz="1400" b="1" i="0" u="none" strike="noStrike" cap="none" normalizeH="0" baseline="0" dirty="0">
                  <a:ln>
                    <a:noFill/>
                  </a:ln>
                  <a:solidFill>
                    <a:srgbClr val="1F3A5F"/>
                  </a:solidFill>
                  <a:effectLst/>
                  <a:latin typeface="Montserrat" panose="02000505000000020004" pitchFamily="2" charset="0"/>
                </a:rPr>
                <a:t>Optimización mediante heurística de priorización</a:t>
              </a:r>
            </a:p>
            <a:p>
              <a:pPr marL="285750" indent="-285750"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1F3A5F"/>
                </a:buClr>
                <a:buFont typeface="Wingdings" panose="05000000000000000000" pitchFamily="2" charset="2"/>
                <a:buChar char="§"/>
              </a:pPr>
              <a:r>
                <a:rPr kumimoji="0" lang="es-ES" altLang="es-PE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2000505000000020004" pitchFamily="2" charset="0"/>
                </a:rPr>
                <a:t>Ranking de </a:t>
              </a:r>
              <a:r>
                <a:rPr kumimoji="0" lang="es-ES" altLang="es-PE" sz="14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2000505000000020004" pitchFamily="2" charset="0"/>
                </a:rPr>
                <a:t>stockpiles</a:t>
              </a:r>
              <a:endParaRPr kumimoji="0" lang="es-PE" altLang="es-P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2000505000000020004" pitchFamily="2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AF767DC-BE73-0D3B-512B-4DF53B8F4881}"/>
              </a:ext>
            </a:extLst>
          </p:cNvPr>
          <p:cNvGrpSpPr/>
          <p:nvPr/>
        </p:nvGrpSpPr>
        <p:grpSpPr>
          <a:xfrm>
            <a:off x="7123324" y="1622003"/>
            <a:ext cx="1332659" cy="698163"/>
            <a:chOff x="7438499" y="1622003"/>
            <a:chExt cx="1332659" cy="698163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EA026BD-FC36-0D1D-D0AD-FDF4FF6994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38499" y="1622003"/>
              <a:ext cx="698163" cy="698163"/>
            </a:xfrm>
            <a:prstGeom prst="rect">
              <a:avLst/>
            </a:prstGeom>
          </p:spPr>
        </p:pic>
        <p:sp>
          <p:nvSpPr>
            <p:cNvPr id="20" name="Rectangle 3">
              <a:extLst>
                <a:ext uri="{FF2B5EF4-FFF2-40B4-BE49-F238E27FC236}">
                  <a16:creationId xmlns:a16="http://schemas.microsoft.com/office/drawing/2014/main" id="{3EEE77FF-BE2C-6232-AB29-0CBB77E326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2129" y="1710657"/>
              <a:ext cx="889029" cy="4610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R="0" lvl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1F3A5F"/>
                </a:buClr>
                <a:buSzTx/>
                <a:tabLst/>
              </a:pPr>
              <a:r>
                <a:rPr lang="es-PE" altLang="es-PE" b="1" dirty="0">
                  <a:solidFill>
                    <a:srgbClr val="1F3A5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Montserrat" panose="02000505000000020004" pitchFamily="2" charset="0"/>
                </a:rPr>
                <a:t>.exe</a:t>
              </a:r>
              <a:endParaRPr kumimoji="0" lang="es-PE" altLang="es-PE" b="1" i="0" u="none" strike="noStrike" cap="none" normalizeH="0" baseline="0" dirty="0">
                <a:ln>
                  <a:noFill/>
                </a:ln>
                <a:solidFill>
                  <a:srgbClr val="1F3A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2000505000000020004" pitchFamily="2" charset="0"/>
              </a:endParaRP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0B1DEA73-1925-03AA-9729-13E905E442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039" y="1506829"/>
            <a:ext cx="868680" cy="86868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BAA86A8-7404-B5DF-1909-BD55608CF5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2735" y="1345939"/>
            <a:ext cx="1018994" cy="101899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B8B5767-E158-78F5-24BE-134D6F9E73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6700" y="4769560"/>
            <a:ext cx="1587889" cy="131753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E52A3B9-9071-1D2D-8BBD-862712C13C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8830" y="4769560"/>
            <a:ext cx="1707898" cy="1275923"/>
          </a:xfrm>
          <a:prstGeom prst="rect">
            <a:avLst/>
          </a:prstGeom>
        </p:spPr>
      </p:pic>
      <p:pic>
        <p:nvPicPr>
          <p:cNvPr id="2059" name="Picture 11" descr="Stockpile Management in Mining - Unitrans Africa">
            <a:extLst>
              <a:ext uri="{FF2B5EF4-FFF2-40B4-BE49-F238E27FC236}">
                <a16:creationId xmlns:a16="http://schemas.microsoft.com/office/drawing/2014/main" id="{B51E6BA0-D468-F149-78FB-FAEE80D36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419" y="4565928"/>
            <a:ext cx="2285119" cy="152116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1" name="Picture 13">
            <a:extLst>
              <a:ext uri="{FF2B5EF4-FFF2-40B4-BE49-F238E27FC236}">
                <a16:creationId xmlns:a16="http://schemas.microsoft.com/office/drawing/2014/main" id="{352760C0-0AE1-C82A-EF90-6B22F95BF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3246" y="5487974"/>
            <a:ext cx="662345" cy="662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AutoShape 15" descr="Descargar fórmula">
            <a:extLst>
              <a:ext uri="{FF2B5EF4-FFF2-40B4-BE49-F238E27FC236}">
                <a16:creationId xmlns:a16="http://schemas.microsoft.com/office/drawing/2014/main" id="{D1A8A34C-4964-A1BD-F1E0-169FEDC3B7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9C32D76-E1DC-C836-7A5E-0217412BF01A}"/>
              </a:ext>
            </a:extLst>
          </p:cNvPr>
          <p:cNvGrpSpPr/>
          <p:nvPr/>
        </p:nvGrpSpPr>
        <p:grpSpPr>
          <a:xfrm>
            <a:off x="5782299" y="5485167"/>
            <a:ext cx="2338172" cy="751407"/>
            <a:chOff x="5822310" y="5466181"/>
            <a:chExt cx="2338172" cy="751407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148BC676-D12C-6B2B-D336-C4FA44F00D38}"/>
                </a:ext>
              </a:extLst>
            </p:cNvPr>
            <p:cNvSpPr/>
            <p:nvPr/>
          </p:nvSpPr>
          <p:spPr>
            <a:xfrm>
              <a:off x="5822310" y="5466181"/>
              <a:ext cx="2338172" cy="751407"/>
            </a:xfrm>
            <a:prstGeom prst="roundRect">
              <a:avLst/>
            </a:prstGeom>
            <a:solidFill>
              <a:srgbClr val="1F3A5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8496D720-5C73-D12C-BC85-31A94B29AF00}"/>
                    </a:ext>
                  </a:extLst>
                </p:cNvPr>
                <p:cNvSpPr txBox="1"/>
                <p:nvPr/>
              </p:nvSpPr>
              <p:spPr>
                <a:xfrm>
                  <a:off x="6070829" y="5533403"/>
                  <a:ext cx="1736052" cy="6169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𝐿𝐶</m:t>
                        </m:r>
                        <m:r>
                          <a:rPr lang="es-PE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s-PE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s-PE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s-PE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PE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PE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s-PE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PE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sSub>
                                  <m:sSubPr>
                                    <m:ctrlPr>
                                      <a:rPr lang="es-PE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PE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𝑙𝑒𝑦</m:t>
                                    </m:r>
                                  </m:e>
                                  <m:sub>
                                    <m:r>
                                      <a:rPr lang="es-PE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PE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num>
                          <m:den>
                            <m:sSub>
                              <m:sSubPr>
                                <m:ctrlPr>
                                  <a:rPr lang="es-PE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s-PE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s-PE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nary>
                              </m:e>
                              <m:sub>
                                <m:r>
                                  <a:rPr lang="es-PE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s-PE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8496D720-5C73-D12C-BC85-31A94B29AF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0829" y="5533403"/>
                  <a:ext cx="1736052" cy="616964"/>
                </a:xfrm>
                <a:prstGeom prst="rect">
                  <a:avLst/>
                </a:prstGeom>
                <a:blipFill>
                  <a:blip r:embed="rId11"/>
                  <a:stretch>
                    <a:fillRect b="-1980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4" name="Rectangle 3">
            <a:extLst>
              <a:ext uri="{FF2B5EF4-FFF2-40B4-BE49-F238E27FC236}">
                <a16:creationId xmlns:a16="http://schemas.microsoft.com/office/drawing/2014/main" id="{122EBCC5-26B2-81B7-F0E5-7B006FA1C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930" y="1710657"/>
            <a:ext cx="2851834" cy="461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F3A5F"/>
              </a:buClr>
              <a:buSzTx/>
              <a:tabLst/>
            </a:pPr>
            <a: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rgbClr val="1F3A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2000505000000020004" pitchFamily="2" charset="0"/>
              </a:rPr>
              <a:t>RESULTADOS</a:t>
            </a:r>
          </a:p>
        </p:txBody>
      </p:sp>
      <p:sp>
        <p:nvSpPr>
          <p:cNvPr id="45" name="Rectangle 3">
            <a:extLst>
              <a:ext uri="{FF2B5EF4-FFF2-40B4-BE49-F238E27FC236}">
                <a16:creationId xmlns:a16="http://schemas.microsoft.com/office/drawing/2014/main" id="{7E046E36-2618-CF54-E188-87D8B3EC4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4455" y="2311585"/>
            <a:ext cx="3214846" cy="2318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F3A5F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es-ES" altLang="es-PE" sz="1400" dirty="0">
                <a:latin typeface="Montserrat" panose="02000505000000020004" pitchFamily="2" charset="0"/>
              </a:rPr>
              <a:t>Clasificación</a:t>
            </a:r>
          </a:p>
          <a:p>
            <a:pPr marL="742950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F3A5F"/>
              </a:buClr>
              <a:buFont typeface="Wingdings" panose="05000000000000000000" pitchFamily="2" charset="2"/>
              <a:buChar char="§"/>
            </a:pPr>
            <a:r>
              <a:rPr kumimoji="0" lang="es-ES" altLang="es-PE" sz="1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Montserrat" panose="02000505000000020004" pitchFamily="2" charset="0"/>
              </a:rPr>
              <a:t>Aceptada</a:t>
            </a:r>
          </a:p>
          <a:p>
            <a:pPr marL="742950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F3A5F"/>
              </a:buClr>
              <a:buFont typeface="Wingdings" panose="05000000000000000000" pitchFamily="2" charset="2"/>
              <a:buChar char="§"/>
            </a:pPr>
            <a:r>
              <a:rPr lang="es-ES" altLang="es-PE" sz="1400" b="1" dirty="0">
                <a:solidFill>
                  <a:srgbClr val="FFC000"/>
                </a:solidFill>
                <a:latin typeface="Montserrat" panose="02000505000000020004" pitchFamily="2" charset="0"/>
              </a:rPr>
              <a:t>Riesgosa</a:t>
            </a:r>
          </a:p>
          <a:p>
            <a:pPr marL="742950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F3A5F"/>
              </a:buClr>
              <a:buFont typeface="Wingdings" panose="05000000000000000000" pitchFamily="2" charset="2"/>
              <a:buChar char="§"/>
            </a:pPr>
            <a:r>
              <a:rPr kumimoji="0" lang="es-ES" altLang="es-PE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Montserrat" panose="02000505000000020004" pitchFamily="2" charset="0"/>
              </a:rPr>
              <a:t>Rechazada</a:t>
            </a:r>
            <a:endParaRPr kumimoji="0" lang="es-ES" altLang="es-PE" sz="1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Montserrat" panose="02000505000000020004" pitchFamily="2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F3A5F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s-ES" altLang="es-P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2000505000000020004" pitchFamily="2" charset="0"/>
              </a:rPr>
              <a:t>Análisis gráfico (</a:t>
            </a:r>
            <a:r>
              <a:rPr kumimoji="0" lang="es-ES" altLang="es-PE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2000505000000020004" pitchFamily="2" charset="0"/>
              </a:rPr>
              <a:t>dashboard</a:t>
            </a:r>
            <a:r>
              <a:rPr kumimoji="0" lang="es-ES" altLang="es-P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2000505000000020004" pitchFamily="2" charset="0"/>
              </a:rPr>
              <a:t>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F3A5F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s-ES" altLang="es-P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2000505000000020004" pitchFamily="2" charset="0"/>
              </a:rPr>
              <a:t>Soporte a la </a:t>
            </a:r>
            <a:r>
              <a:rPr kumimoji="0" lang="es-ES" altLang="es-PE" sz="1400" b="1" i="0" u="none" strike="noStrike" cap="none" normalizeH="0" baseline="0" dirty="0">
                <a:ln>
                  <a:noFill/>
                </a:ln>
                <a:solidFill>
                  <a:srgbClr val="1F3A5F"/>
                </a:solidFill>
                <a:effectLst/>
                <a:latin typeface="Montserrat" panose="02000505000000020004" pitchFamily="2" charset="0"/>
              </a:rPr>
              <a:t>toma de decisiones operativas</a:t>
            </a:r>
            <a:endParaRPr kumimoji="0" lang="es-PE" altLang="es-PE" sz="1400" b="1" i="0" u="none" strike="noStrike" cap="none" normalizeH="0" baseline="0" dirty="0">
              <a:ln>
                <a:noFill/>
              </a:ln>
              <a:solidFill>
                <a:srgbClr val="1F3A5F"/>
              </a:solidFill>
              <a:effectLst/>
              <a:latin typeface="Montserrat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174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1A312-7B39-249D-3333-7D265D1EC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E946DBDF-CC9F-4340-6FAA-8103008BD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50319"/>
            <a:ext cx="1456372" cy="662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3D26A52-AD9B-F7AF-B884-32D458BE65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93192"/>
            <a:ext cx="12192000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35803B-5F70-DB65-3F2B-44F7BA7E2D87}"/>
              </a:ext>
            </a:extLst>
          </p:cNvPr>
          <p:cNvSpPr txBox="1"/>
          <p:nvPr/>
        </p:nvSpPr>
        <p:spPr>
          <a:xfrm>
            <a:off x="79355" y="593104"/>
            <a:ext cx="5311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2000505000000020004" pitchFamily="2" charset="0"/>
              </a:rPr>
              <a:t>ANALITICA DE DATOS - PANDAS</a:t>
            </a:r>
            <a:endParaRPr lang="es-PE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2000505000000020004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CB3696-BBC9-F6D3-2894-A36672158C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915" y="680563"/>
            <a:ext cx="1535674" cy="2939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7DD845-EADC-C6EB-D8BD-E6AD79229B4B}"/>
              </a:ext>
            </a:extLst>
          </p:cNvPr>
          <p:cNvSpPr txBox="1"/>
          <p:nvPr/>
        </p:nvSpPr>
        <p:spPr>
          <a:xfrm>
            <a:off x="10232136" y="6423739"/>
            <a:ext cx="30083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dirty="0">
                <a:solidFill>
                  <a:srgbClr val="1F3A5F"/>
                </a:solidFill>
                <a:latin typeface="Montserrat" panose="02000505000000020004" pitchFamily="2" charset="0"/>
              </a:rPr>
              <a:t>Brayan Churata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81372C7-9C8C-9F21-723F-BD0A00B42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1" y="2320166"/>
            <a:ext cx="3478863" cy="2318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F3A5F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s-ES" altLang="es-PE" sz="1400" b="1" i="0" u="none" strike="noStrike" cap="none" normalizeH="0" baseline="0" dirty="0">
                <a:ln>
                  <a:noFill/>
                </a:ln>
                <a:solidFill>
                  <a:srgbClr val="1F3A5F"/>
                </a:solidFill>
                <a:effectLst/>
                <a:latin typeface="Montserrat" panose="02000505000000020004" pitchFamily="2" charset="0"/>
              </a:rPr>
              <a:t>Variabilidad</a:t>
            </a:r>
            <a:r>
              <a:rPr kumimoji="0" lang="es-ES" altLang="es-P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2000505000000020004" pitchFamily="2" charset="0"/>
              </a:rPr>
              <a:t> en ley de Cu, arsénico y recuperación.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F3A5F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s-ES" altLang="es-P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2000505000000020004" pitchFamily="2" charset="0"/>
              </a:rPr>
              <a:t>Múltiples </a:t>
            </a:r>
            <a:r>
              <a:rPr kumimoji="0" lang="es-ES" altLang="es-PE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2000505000000020004" pitchFamily="2" charset="0"/>
              </a:rPr>
              <a:t>stockpiles</a:t>
            </a:r>
            <a:r>
              <a:rPr kumimoji="0" lang="es-ES" altLang="es-P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2000505000000020004" pitchFamily="2" charset="0"/>
              </a:rPr>
              <a:t> disponibles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F3A5F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s-ES" altLang="es-PE" sz="1400" b="1" i="0" u="none" strike="noStrike" cap="none" normalizeH="0" baseline="0" dirty="0">
                <a:ln>
                  <a:noFill/>
                </a:ln>
                <a:solidFill>
                  <a:srgbClr val="1F3A5F"/>
                </a:solidFill>
                <a:effectLst/>
                <a:latin typeface="Montserrat" panose="02000505000000020004" pitchFamily="2" charset="0"/>
              </a:rPr>
              <a:t>Dificultad</a:t>
            </a:r>
            <a:r>
              <a:rPr kumimoji="0" lang="es-ES" altLang="es-P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2000505000000020004" pitchFamily="2" charset="0"/>
              </a:rPr>
              <a:t> para cumplir </a:t>
            </a:r>
            <a:r>
              <a:rPr kumimoji="0" lang="es-ES" altLang="es-PE" sz="1400" b="1" i="0" u="none" strike="noStrike" cap="none" normalizeH="0" baseline="0" dirty="0">
                <a:ln>
                  <a:noFill/>
                </a:ln>
                <a:solidFill>
                  <a:srgbClr val="1F3A5F"/>
                </a:solidFill>
                <a:effectLst/>
                <a:latin typeface="Montserrat" panose="02000505000000020004" pitchFamily="2" charset="0"/>
              </a:rPr>
              <a:t>especificaciones de planta.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F3A5F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s-ES" altLang="es-P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2000505000000020004" pitchFamily="2" charset="0"/>
              </a:rPr>
              <a:t>Riesgo de penalidades o rechazo del mineral.</a:t>
            </a:r>
            <a:endParaRPr kumimoji="0" lang="es-PE" altLang="es-P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2000505000000020004" pitchFamily="2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D060F96-4894-858B-BBFA-830F4FF82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688" y="1690142"/>
            <a:ext cx="2100351" cy="461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F3A5F"/>
              </a:buClr>
              <a:buSzTx/>
              <a:tabLst/>
            </a:pPr>
            <a:r>
              <a:rPr lang="es-PE" altLang="es-PE" b="1" dirty="0">
                <a:solidFill>
                  <a:srgbClr val="1F3A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2000505000000020004" pitchFamily="2" charset="0"/>
              </a:rPr>
              <a:t>PROBLEMA</a:t>
            </a:r>
            <a:endParaRPr kumimoji="0" lang="es-PE" altLang="es-PE" b="1" i="0" u="none" strike="noStrike" cap="none" normalizeH="0" baseline="0" dirty="0">
              <a:ln>
                <a:noFill/>
              </a:ln>
              <a:solidFill>
                <a:srgbClr val="1F3A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2000505000000020004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58341B-E9DA-25BA-64A1-ED4CD7CE652F}"/>
              </a:ext>
            </a:extLst>
          </p:cNvPr>
          <p:cNvCxnSpPr>
            <a:cxnSpLocks/>
          </p:cNvCxnSpPr>
          <p:nvPr/>
        </p:nvCxnSpPr>
        <p:spPr>
          <a:xfrm>
            <a:off x="3941064" y="1261872"/>
            <a:ext cx="0" cy="4672584"/>
          </a:xfrm>
          <a:prstGeom prst="line">
            <a:avLst/>
          </a:prstGeom>
          <a:ln w="38100">
            <a:solidFill>
              <a:srgbClr val="1F3A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3">
            <a:extLst>
              <a:ext uri="{FF2B5EF4-FFF2-40B4-BE49-F238E27FC236}">
                <a16:creationId xmlns:a16="http://schemas.microsoft.com/office/drawing/2014/main" id="{14646812-7FBD-7D47-8DD0-38E150E36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0025" y="1690142"/>
            <a:ext cx="2851834" cy="461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F3A5F"/>
              </a:buClr>
              <a:buSzTx/>
              <a:tabLst/>
            </a:pPr>
            <a:r>
              <a:rPr lang="es-PE" altLang="es-PE" b="1" dirty="0">
                <a:solidFill>
                  <a:srgbClr val="1F3A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2000505000000020004" pitchFamily="2" charset="0"/>
              </a:rPr>
              <a:t>SOLUCIÓN (PYTHON)</a:t>
            </a:r>
            <a:endParaRPr kumimoji="0" lang="es-PE" altLang="es-PE" b="1" i="0" u="none" strike="noStrike" cap="none" normalizeH="0" baseline="0" dirty="0">
              <a:ln>
                <a:noFill/>
              </a:ln>
              <a:solidFill>
                <a:srgbClr val="1F3A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2000505000000020004" pitchFamily="2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4F12892-923F-80BF-DEA2-4AFBEBFF0BFE}"/>
              </a:ext>
            </a:extLst>
          </p:cNvPr>
          <p:cNvCxnSpPr>
            <a:cxnSpLocks/>
          </p:cNvCxnSpPr>
          <p:nvPr/>
        </p:nvCxnSpPr>
        <p:spPr>
          <a:xfrm>
            <a:off x="8601456" y="1261872"/>
            <a:ext cx="0" cy="4672584"/>
          </a:xfrm>
          <a:prstGeom prst="line">
            <a:avLst/>
          </a:prstGeom>
          <a:ln w="38100">
            <a:solidFill>
              <a:srgbClr val="1F3A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F58933B-163F-6890-AD8F-2907DA059F58}"/>
              </a:ext>
            </a:extLst>
          </p:cNvPr>
          <p:cNvGrpSpPr/>
          <p:nvPr/>
        </p:nvGrpSpPr>
        <p:grpSpPr>
          <a:xfrm>
            <a:off x="4269083" y="2128324"/>
            <a:ext cx="4004354" cy="3233744"/>
            <a:chOff x="4323909" y="2715105"/>
            <a:chExt cx="3478863" cy="3281845"/>
          </a:xfrm>
        </p:grpSpPr>
        <p:sp>
          <p:nvSpPr>
            <p:cNvPr id="15" name="Rectangle 3">
              <a:extLst>
                <a:ext uri="{FF2B5EF4-FFF2-40B4-BE49-F238E27FC236}">
                  <a16:creationId xmlns:a16="http://schemas.microsoft.com/office/drawing/2014/main" id="{7E9E4D81-E582-F594-07AE-7EE0869019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3910" y="2715105"/>
              <a:ext cx="3478862" cy="2680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285750" marR="0" lvl="0" indent="-285750" algn="just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1F3A5F"/>
                </a:buClr>
                <a:buSzTx/>
                <a:buFont typeface="Wingdings" panose="05000000000000000000" pitchFamily="2" charset="2"/>
                <a:buChar char="§"/>
                <a:tabLst/>
              </a:pPr>
              <a:r>
                <a:rPr kumimoji="0" lang="es-ES" altLang="es-PE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2000505000000020004" pitchFamily="2" charset="0"/>
                </a:rPr>
                <a:t>Importación de datos (Excel / interfaz)</a:t>
              </a:r>
            </a:p>
            <a:p>
              <a:pPr marL="285750" marR="0" lvl="0" indent="-285750" algn="just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1F3A5F"/>
                </a:buClr>
                <a:buSzTx/>
                <a:buFont typeface="Wingdings" panose="05000000000000000000" pitchFamily="2" charset="2"/>
                <a:buChar char="§"/>
                <a:tabLst/>
              </a:pPr>
              <a:r>
                <a:rPr kumimoji="0" lang="es-ES" altLang="es-PE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2000505000000020004" pitchFamily="2" charset="0"/>
                </a:rPr>
                <a:t>Cálculo automático del </a:t>
              </a:r>
              <a:r>
                <a:rPr kumimoji="0" lang="es-ES" altLang="es-PE" sz="14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2000505000000020004" pitchFamily="2" charset="0"/>
                </a:rPr>
                <a:t>blend</a:t>
              </a:r>
              <a:endParaRPr kumimoji="0" lang="es-ES" altLang="es-P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2000505000000020004" pitchFamily="2" charset="0"/>
              </a:endParaRPr>
            </a:p>
            <a:p>
              <a:pPr marL="285750" marR="0" lvl="0" indent="-285750" algn="just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1F3A5F"/>
                </a:buClr>
                <a:buSzTx/>
                <a:buFont typeface="Wingdings" panose="05000000000000000000" pitchFamily="2" charset="2"/>
                <a:buChar char="§"/>
                <a:tabLst/>
              </a:pPr>
              <a:r>
                <a:rPr kumimoji="0" lang="es-ES" altLang="es-PE" sz="1400" b="1" i="0" u="none" strike="noStrike" cap="none" normalizeH="0" baseline="0" dirty="0">
                  <a:ln>
                    <a:noFill/>
                  </a:ln>
                  <a:solidFill>
                    <a:srgbClr val="1F3A5F"/>
                  </a:solidFill>
                  <a:effectLst/>
                  <a:latin typeface="Montserrat" panose="02000505000000020004" pitchFamily="2" charset="0"/>
                </a:rPr>
                <a:t>Evaluación de restricciones</a:t>
              </a:r>
              <a:r>
                <a:rPr kumimoji="0" lang="es-ES" altLang="es-PE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2000505000000020004" pitchFamily="2" charset="0"/>
                </a:rPr>
                <a:t>:</a:t>
              </a:r>
            </a:p>
            <a:p>
              <a:pPr marL="742950" lvl="1" indent="-285750"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1F3A5F"/>
                </a:buClr>
                <a:buFont typeface="Wingdings" panose="05000000000000000000" pitchFamily="2" charset="2"/>
                <a:buChar char="§"/>
              </a:pPr>
              <a:r>
                <a:rPr kumimoji="0" lang="es-ES" altLang="es-PE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2000505000000020004" pitchFamily="2" charset="0"/>
                </a:rPr>
                <a:t>Ley Cu</a:t>
              </a:r>
            </a:p>
            <a:p>
              <a:pPr marL="742950" lvl="1" indent="-285750"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1F3A5F"/>
                </a:buClr>
                <a:buFont typeface="Wingdings" panose="05000000000000000000" pitchFamily="2" charset="2"/>
                <a:buChar char="§"/>
              </a:pPr>
              <a:r>
                <a:rPr kumimoji="0" lang="es-ES" altLang="es-PE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2000505000000020004" pitchFamily="2" charset="0"/>
                </a:rPr>
                <a:t>Arsénico</a:t>
              </a:r>
            </a:p>
            <a:p>
              <a:pPr marL="742950" lvl="1" indent="-285750"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1F3A5F"/>
                </a:buClr>
                <a:buFont typeface="Wingdings" panose="05000000000000000000" pitchFamily="2" charset="2"/>
                <a:buChar char="§"/>
              </a:pPr>
              <a:r>
                <a:rPr kumimoji="0" lang="es-ES" altLang="es-PE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2000505000000020004" pitchFamily="2" charset="0"/>
                </a:rPr>
                <a:t>Tonelaje</a:t>
              </a:r>
            </a:p>
            <a:p>
              <a:pPr marL="742950" lvl="1" indent="-285750"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1F3A5F"/>
                </a:buClr>
                <a:buFont typeface="Wingdings" panose="05000000000000000000" pitchFamily="2" charset="2"/>
                <a:buChar char="§"/>
              </a:pPr>
              <a:endParaRPr lang="es-ES" altLang="es-PE" sz="1400" dirty="0">
                <a:latin typeface="Montserrat" panose="02000505000000020004" pitchFamily="2" charset="0"/>
              </a:endParaRPr>
            </a:p>
          </p:txBody>
        </p:sp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6F6D93ED-CAF1-45CC-00D9-7123AF41C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3909" y="4956288"/>
              <a:ext cx="3478862" cy="10406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285750" indent="-285750"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1F3A5F"/>
                </a:buClr>
                <a:buFont typeface="Wingdings" panose="05000000000000000000" pitchFamily="2" charset="2"/>
                <a:buChar char="§"/>
              </a:pPr>
              <a:r>
                <a:rPr kumimoji="0" lang="es-ES" altLang="es-PE" sz="1400" b="1" i="0" u="none" strike="noStrike" cap="none" normalizeH="0" baseline="0" dirty="0">
                  <a:ln>
                    <a:noFill/>
                  </a:ln>
                  <a:solidFill>
                    <a:srgbClr val="1F3A5F"/>
                  </a:solidFill>
                  <a:effectLst/>
                  <a:latin typeface="Montserrat" panose="02000505000000020004" pitchFamily="2" charset="0"/>
                </a:rPr>
                <a:t>Optimización mediante heurística de priorización</a:t>
              </a:r>
            </a:p>
            <a:p>
              <a:pPr marL="285750" indent="-285750"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1F3A5F"/>
                </a:buClr>
                <a:buFont typeface="Wingdings" panose="05000000000000000000" pitchFamily="2" charset="2"/>
                <a:buChar char="§"/>
              </a:pPr>
              <a:r>
                <a:rPr kumimoji="0" lang="es-ES" altLang="es-PE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2000505000000020004" pitchFamily="2" charset="0"/>
                </a:rPr>
                <a:t>Ranking de </a:t>
              </a:r>
              <a:r>
                <a:rPr kumimoji="0" lang="es-ES" altLang="es-PE" sz="14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2000505000000020004" pitchFamily="2" charset="0"/>
                </a:rPr>
                <a:t>stockpiles</a:t>
              </a:r>
              <a:endParaRPr kumimoji="0" lang="es-PE" altLang="es-P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2000505000000020004" pitchFamily="2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2A8F5B4-096C-B8CF-EAED-150FDC70F07D}"/>
              </a:ext>
            </a:extLst>
          </p:cNvPr>
          <p:cNvGrpSpPr/>
          <p:nvPr/>
        </p:nvGrpSpPr>
        <p:grpSpPr>
          <a:xfrm>
            <a:off x="7123324" y="1622003"/>
            <a:ext cx="1332659" cy="698163"/>
            <a:chOff x="7438499" y="1622003"/>
            <a:chExt cx="1332659" cy="698163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81EC0AF0-9B8F-3CF4-FD35-D423519D2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38499" y="1622003"/>
              <a:ext cx="698163" cy="698163"/>
            </a:xfrm>
            <a:prstGeom prst="rect">
              <a:avLst/>
            </a:prstGeom>
          </p:spPr>
        </p:pic>
        <p:sp>
          <p:nvSpPr>
            <p:cNvPr id="20" name="Rectangle 3">
              <a:extLst>
                <a:ext uri="{FF2B5EF4-FFF2-40B4-BE49-F238E27FC236}">
                  <a16:creationId xmlns:a16="http://schemas.microsoft.com/office/drawing/2014/main" id="{870E246E-B05D-0EF5-FD1F-DBFF3D2CA6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2129" y="1710657"/>
              <a:ext cx="889029" cy="4610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R="0" lvl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1F3A5F"/>
                </a:buClr>
                <a:buSzTx/>
                <a:tabLst/>
              </a:pPr>
              <a:r>
                <a:rPr lang="es-PE" altLang="es-PE" b="1" dirty="0">
                  <a:solidFill>
                    <a:srgbClr val="1F3A5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Montserrat" panose="02000505000000020004" pitchFamily="2" charset="0"/>
                </a:rPr>
                <a:t>.exe</a:t>
              </a:r>
              <a:endParaRPr kumimoji="0" lang="es-PE" altLang="es-PE" b="1" i="0" u="none" strike="noStrike" cap="none" normalizeH="0" baseline="0" dirty="0">
                <a:ln>
                  <a:noFill/>
                </a:ln>
                <a:solidFill>
                  <a:srgbClr val="1F3A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2000505000000020004" pitchFamily="2" charset="0"/>
              </a:endParaRP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D735B105-E534-7DA5-741B-72BB96E3E6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039" y="1506829"/>
            <a:ext cx="868680" cy="86868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5E80EE9-B032-EB6B-FB46-FAA7948115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2735" y="1345939"/>
            <a:ext cx="1018994" cy="101899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7014128-D219-EDC6-F00C-649DFFA2A5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6700" y="4769560"/>
            <a:ext cx="1587889" cy="131753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C3E090F-258F-D873-ED2A-9E4D5AA39A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8830" y="4769560"/>
            <a:ext cx="1707898" cy="1275923"/>
          </a:xfrm>
          <a:prstGeom prst="rect">
            <a:avLst/>
          </a:prstGeom>
        </p:spPr>
      </p:pic>
      <p:pic>
        <p:nvPicPr>
          <p:cNvPr id="2059" name="Picture 11" descr="Stockpile Management in Mining - Unitrans Africa">
            <a:extLst>
              <a:ext uri="{FF2B5EF4-FFF2-40B4-BE49-F238E27FC236}">
                <a16:creationId xmlns:a16="http://schemas.microsoft.com/office/drawing/2014/main" id="{B537E553-6C4E-49DB-1588-031D32D09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419" y="4565928"/>
            <a:ext cx="2285119" cy="152116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1" name="Picture 13">
            <a:extLst>
              <a:ext uri="{FF2B5EF4-FFF2-40B4-BE49-F238E27FC236}">
                <a16:creationId xmlns:a16="http://schemas.microsoft.com/office/drawing/2014/main" id="{A0A2A58A-7CC6-F744-55D0-90654A722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3246" y="5487974"/>
            <a:ext cx="662345" cy="662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AutoShape 15" descr="Descargar fórmula">
            <a:extLst>
              <a:ext uri="{FF2B5EF4-FFF2-40B4-BE49-F238E27FC236}">
                <a16:creationId xmlns:a16="http://schemas.microsoft.com/office/drawing/2014/main" id="{C40FBD5F-FDB8-16E8-C6AD-FF01E5A830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17D5459-A771-7CD3-7CFB-7E8095CFFF12}"/>
              </a:ext>
            </a:extLst>
          </p:cNvPr>
          <p:cNvGrpSpPr/>
          <p:nvPr/>
        </p:nvGrpSpPr>
        <p:grpSpPr>
          <a:xfrm>
            <a:off x="5782299" y="5485167"/>
            <a:ext cx="2338172" cy="751407"/>
            <a:chOff x="5822310" y="5466181"/>
            <a:chExt cx="2338172" cy="751407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A576BE87-4C53-3467-7AF5-A85BF24AA114}"/>
                </a:ext>
              </a:extLst>
            </p:cNvPr>
            <p:cNvSpPr/>
            <p:nvPr/>
          </p:nvSpPr>
          <p:spPr>
            <a:xfrm>
              <a:off x="5822310" y="5466181"/>
              <a:ext cx="2338172" cy="751407"/>
            </a:xfrm>
            <a:prstGeom prst="roundRect">
              <a:avLst/>
            </a:prstGeom>
            <a:solidFill>
              <a:srgbClr val="1F3A5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4D1702EA-F9BE-884B-11BD-FE8FBF2B1E1C}"/>
                    </a:ext>
                  </a:extLst>
                </p:cNvPr>
                <p:cNvSpPr txBox="1"/>
                <p:nvPr/>
              </p:nvSpPr>
              <p:spPr>
                <a:xfrm>
                  <a:off x="6070829" y="5533403"/>
                  <a:ext cx="1736052" cy="6169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𝐿𝐶</m:t>
                        </m:r>
                        <m:r>
                          <a:rPr lang="es-PE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s-PE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s-PE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s-PE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PE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PE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s-PE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PE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sSub>
                                  <m:sSubPr>
                                    <m:ctrlPr>
                                      <a:rPr lang="es-PE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PE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𝑙𝑒𝑦</m:t>
                                    </m:r>
                                  </m:e>
                                  <m:sub>
                                    <m:r>
                                      <a:rPr lang="es-PE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PE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num>
                          <m:den>
                            <m:sSub>
                              <m:sSubPr>
                                <m:ctrlPr>
                                  <a:rPr lang="es-PE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s-PE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s-PE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nary>
                              </m:e>
                              <m:sub>
                                <m:r>
                                  <a:rPr lang="es-PE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s-PE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4D1702EA-F9BE-884B-11BD-FE8FBF2B1E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0829" y="5533403"/>
                  <a:ext cx="1736052" cy="616964"/>
                </a:xfrm>
                <a:prstGeom prst="rect">
                  <a:avLst/>
                </a:prstGeom>
                <a:blipFill>
                  <a:blip r:embed="rId11"/>
                  <a:stretch>
                    <a:fillRect b="-1980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4" name="Rectangle 3">
            <a:extLst>
              <a:ext uri="{FF2B5EF4-FFF2-40B4-BE49-F238E27FC236}">
                <a16:creationId xmlns:a16="http://schemas.microsoft.com/office/drawing/2014/main" id="{933CCF2A-D0D9-9789-C105-97619A636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930" y="1710657"/>
            <a:ext cx="2851834" cy="461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F3A5F"/>
              </a:buClr>
              <a:buSzTx/>
              <a:tabLst/>
            </a:pPr>
            <a: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rgbClr val="1F3A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2000505000000020004" pitchFamily="2" charset="0"/>
              </a:rPr>
              <a:t>RESULTADOS</a:t>
            </a:r>
          </a:p>
        </p:txBody>
      </p:sp>
      <p:sp>
        <p:nvSpPr>
          <p:cNvPr id="45" name="Rectangle 3">
            <a:extLst>
              <a:ext uri="{FF2B5EF4-FFF2-40B4-BE49-F238E27FC236}">
                <a16:creationId xmlns:a16="http://schemas.microsoft.com/office/drawing/2014/main" id="{1C075666-7A6A-D22E-F43A-1C9FBE790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4455" y="2311585"/>
            <a:ext cx="3214846" cy="2318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F3A5F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es-ES" altLang="es-PE" sz="1400" dirty="0">
                <a:latin typeface="Montserrat" panose="02000505000000020004" pitchFamily="2" charset="0"/>
              </a:rPr>
              <a:t>Clasificación</a:t>
            </a:r>
          </a:p>
          <a:p>
            <a:pPr marL="742950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F3A5F"/>
              </a:buClr>
              <a:buFont typeface="Wingdings" panose="05000000000000000000" pitchFamily="2" charset="2"/>
              <a:buChar char="§"/>
            </a:pPr>
            <a:r>
              <a:rPr kumimoji="0" lang="es-ES" altLang="es-PE" sz="1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Montserrat" panose="02000505000000020004" pitchFamily="2" charset="0"/>
              </a:rPr>
              <a:t>Aceptada</a:t>
            </a:r>
          </a:p>
          <a:p>
            <a:pPr marL="742950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F3A5F"/>
              </a:buClr>
              <a:buFont typeface="Wingdings" panose="05000000000000000000" pitchFamily="2" charset="2"/>
              <a:buChar char="§"/>
            </a:pPr>
            <a:r>
              <a:rPr lang="es-ES" altLang="es-PE" sz="1400" b="1" dirty="0">
                <a:solidFill>
                  <a:srgbClr val="FFC000"/>
                </a:solidFill>
                <a:latin typeface="Montserrat" panose="02000505000000020004" pitchFamily="2" charset="0"/>
              </a:rPr>
              <a:t>Riesgosa</a:t>
            </a:r>
          </a:p>
          <a:p>
            <a:pPr marL="742950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F3A5F"/>
              </a:buClr>
              <a:buFont typeface="Wingdings" panose="05000000000000000000" pitchFamily="2" charset="2"/>
              <a:buChar char="§"/>
            </a:pPr>
            <a:r>
              <a:rPr kumimoji="0" lang="es-ES" altLang="es-PE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Montserrat" panose="02000505000000020004" pitchFamily="2" charset="0"/>
              </a:rPr>
              <a:t>Rechazada</a:t>
            </a:r>
            <a:endParaRPr kumimoji="0" lang="es-ES" altLang="es-PE" sz="1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Montserrat" panose="02000505000000020004" pitchFamily="2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F3A5F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s-ES" altLang="es-P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2000505000000020004" pitchFamily="2" charset="0"/>
              </a:rPr>
              <a:t>Análisis gráfico (</a:t>
            </a:r>
            <a:r>
              <a:rPr kumimoji="0" lang="es-ES" altLang="es-PE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2000505000000020004" pitchFamily="2" charset="0"/>
              </a:rPr>
              <a:t>dashboard</a:t>
            </a:r>
            <a:r>
              <a:rPr kumimoji="0" lang="es-ES" altLang="es-P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2000505000000020004" pitchFamily="2" charset="0"/>
              </a:rPr>
              <a:t>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F3A5F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s-ES" altLang="es-P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2000505000000020004" pitchFamily="2" charset="0"/>
              </a:rPr>
              <a:t>Soporte a la </a:t>
            </a:r>
            <a:r>
              <a:rPr kumimoji="0" lang="es-ES" altLang="es-PE" sz="1400" b="1" i="0" u="none" strike="noStrike" cap="none" normalizeH="0" baseline="0" dirty="0">
                <a:ln>
                  <a:noFill/>
                </a:ln>
                <a:solidFill>
                  <a:srgbClr val="1F3A5F"/>
                </a:solidFill>
                <a:effectLst/>
                <a:latin typeface="Montserrat" panose="02000505000000020004" pitchFamily="2" charset="0"/>
              </a:rPr>
              <a:t>toma de decisiones operativas</a:t>
            </a:r>
            <a:endParaRPr kumimoji="0" lang="es-PE" altLang="es-PE" sz="1400" b="1" i="0" u="none" strike="noStrike" cap="none" normalizeH="0" baseline="0" dirty="0">
              <a:ln>
                <a:noFill/>
              </a:ln>
              <a:solidFill>
                <a:srgbClr val="1F3A5F"/>
              </a:solidFill>
              <a:effectLst/>
              <a:latin typeface="Montserrat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727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DAA9A-2C7C-F24C-A2D1-D2463E176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1FB91AC9-31E3-6AED-418C-52775C2A8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50319"/>
            <a:ext cx="1456372" cy="662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346FBC4-BE11-8E62-FB95-B22A705316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93192"/>
            <a:ext cx="12192000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00EE-F44E-997A-24B8-45075FCDB5F2}"/>
              </a:ext>
            </a:extLst>
          </p:cNvPr>
          <p:cNvSpPr txBox="1"/>
          <p:nvPr/>
        </p:nvSpPr>
        <p:spPr>
          <a:xfrm>
            <a:off x="79355" y="593104"/>
            <a:ext cx="6412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2000505000000020004" pitchFamily="2" charset="0"/>
              </a:rPr>
              <a:t>MEJORAS &amp; CONCLUSIONES A FUTURO</a:t>
            </a:r>
            <a:endParaRPr lang="es-PE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2000505000000020004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55DCAA-4A85-E482-3383-F9FF786663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915" y="680563"/>
            <a:ext cx="1535674" cy="2939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15DAA4-5012-4D5B-37C2-A1359366E268}"/>
              </a:ext>
            </a:extLst>
          </p:cNvPr>
          <p:cNvSpPr txBox="1"/>
          <p:nvPr/>
        </p:nvSpPr>
        <p:spPr>
          <a:xfrm>
            <a:off x="10232136" y="6423739"/>
            <a:ext cx="30083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dirty="0">
                <a:solidFill>
                  <a:srgbClr val="1F3A5F"/>
                </a:solidFill>
                <a:latin typeface="Montserrat" panose="02000505000000020004" pitchFamily="2" charset="0"/>
              </a:rPr>
              <a:t>Brayan Churata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0394CF9-F068-C609-FC14-14D5CF03411B}"/>
              </a:ext>
            </a:extLst>
          </p:cNvPr>
          <p:cNvCxnSpPr>
            <a:cxnSpLocks/>
          </p:cNvCxnSpPr>
          <p:nvPr/>
        </p:nvCxnSpPr>
        <p:spPr>
          <a:xfrm>
            <a:off x="4782312" y="1261872"/>
            <a:ext cx="0" cy="5093208"/>
          </a:xfrm>
          <a:prstGeom prst="line">
            <a:avLst/>
          </a:prstGeom>
          <a:ln w="38100">
            <a:solidFill>
              <a:srgbClr val="1F3A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6C20ABF-4C5E-DAAB-123B-BA37698AEC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3324" y="1372701"/>
            <a:ext cx="6387665" cy="4982379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A8C2A98F-952C-E00B-17C4-4CFDADBB3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8684" y="1372701"/>
            <a:ext cx="868680" cy="868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3">
            <a:extLst>
              <a:ext uri="{FF2B5EF4-FFF2-40B4-BE49-F238E27FC236}">
                <a16:creationId xmlns:a16="http://schemas.microsoft.com/office/drawing/2014/main" id="{0AEC92FA-92A2-B0B2-E4AA-6B983AB07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55" y="1545820"/>
            <a:ext cx="3478863" cy="2318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F3A5F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s-ES" altLang="es-PE" sz="1400" b="1" i="0" u="none" strike="noStrike" cap="none" normalizeH="0" baseline="0" dirty="0">
                <a:ln>
                  <a:noFill/>
                </a:ln>
                <a:solidFill>
                  <a:srgbClr val="1F3A5F"/>
                </a:solidFill>
                <a:effectLst/>
                <a:latin typeface="Montserrat" panose="02000505000000020004" pitchFamily="2" charset="0"/>
              </a:rPr>
              <a:t>Variabilidad</a:t>
            </a:r>
            <a:r>
              <a:rPr kumimoji="0" lang="es-ES" altLang="es-P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2000505000000020004" pitchFamily="2" charset="0"/>
              </a:rPr>
              <a:t> en ley de Cu, arsénico y recuperación.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F3A5F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s-ES" altLang="es-P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2000505000000020004" pitchFamily="2" charset="0"/>
              </a:rPr>
              <a:t>Múltiples </a:t>
            </a:r>
            <a:r>
              <a:rPr kumimoji="0" lang="es-ES" altLang="es-PE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2000505000000020004" pitchFamily="2" charset="0"/>
              </a:rPr>
              <a:t>stockpiles</a:t>
            </a:r>
            <a:r>
              <a:rPr kumimoji="0" lang="es-ES" altLang="es-P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2000505000000020004" pitchFamily="2" charset="0"/>
              </a:rPr>
              <a:t> disponibles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F3A5F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s-ES" altLang="es-PE" sz="1400" b="1" i="0" u="none" strike="noStrike" cap="none" normalizeH="0" baseline="0" dirty="0">
                <a:ln>
                  <a:noFill/>
                </a:ln>
                <a:solidFill>
                  <a:srgbClr val="1F3A5F"/>
                </a:solidFill>
                <a:effectLst/>
                <a:latin typeface="Montserrat" panose="02000505000000020004" pitchFamily="2" charset="0"/>
              </a:rPr>
              <a:t>Dificultad</a:t>
            </a:r>
            <a:r>
              <a:rPr kumimoji="0" lang="es-ES" altLang="es-P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2000505000000020004" pitchFamily="2" charset="0"/>
              </a:rPr>
              <a:t> para cumplir </a:t>
            </a:r>
            <a:r>
              <a:rPr kumimoji="0" lang="es-ES" altLang="es-PE" sz="1400" b="1" i="0" u="none" strike="noStrike" cap="none" normalizeH="0" baseline="0" dirty="0">
                <a:ln>
                  <a:noFill/>
                </a:ln>
                <a:solidFill>
                  <a:srgbClr val="1F3A5F"/>
                </a:solidFill>
                <a:effectLst/>
                <a:latin typeface="Montserrat" panose="02000505000000020004" pitchFamily="2" charset="0"/>
              </a:rPr>
              <a:t>especificaciones de planta.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F3A5F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s-ES" altLang="es-P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2000505000000020004" pitchFamily="2" charset="0"/>
              </a:rPr>
              <a:t>Riesgo de penalidades o rechazo del mineral.</a:t>
            </a:r>
            <a:endParaRPr kumimoji="0" lang="es-PE" altLang="es-P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401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038;p11">
            <a:extLst>
              <a:ext uri="{FF2B5EF4-FFF2-40B4-BE49-F238E27FC236}">
                <a16:creationId xmlns:a16="http://schemas.microsoft.com/office/drawing/2014/main" id="{76B704EE-AEDE-373B-E19C-DBA165491507}"/>
              </a:ext>
            </a:extLst>
          </p:cNvPr>
          <p:cNvPicPr preferRelativeResize="0"/>
          <p:nvPr/>
        </p:nvPicPr>
        <p:blipFill rotWithShape="1">
          <a:blip r:embed="rId2">
            <a:alphaModFix amt="2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701" r="19795" b="38067"/>
          <a:stretch/>
        </p:blipFill>
        <p:spPr>
          <a:xfrm>
            <a:off x="0" y="4379976"/>
            <a:ext cx="12192000" cy="2478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2C2F16B5-B6E0-BA4D-9971-5DBE84353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3165" y="2003896"/>
            <a:ext cx="5758198" cy="2618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806006-2BB9-7ED6-7982-EB678AFE8E6F}"/>
              </a:ext>
            </a:extLst>
          </p:cNvPr>
          <p:cNvSpPr txBox="1"/>
          <p:nvPr/>
        </p:nvSpPr>
        <p:spPr>
          <a:xfrm>
            <a:off x="4902708" y="4622673"/>
            <a:ext cx="2386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000" dirty="0">
                <a:solidFill>
                  <a:srgbClr val="1F3A5F"/>
                </a:solidFill>
                <a:latin typeface="Montserrat" panose="02000505000000020004" pitchFamily="2" charset="0"/>
              </a:rPr>
              <a:t>Brayan Churata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8C723F-D907-B43D-A77F-339058F55B74}"/>
              </a:ext>
            </a:extLst>
          </p:cNvPr>
          <p:cNvSpPr txBox="1"/>
          <p:nvPr/>
        </p:nvSpPr>
        <p:spPr>
          <a:xfrm>
            <a:off x="4902708" y="5470839"/>
            <a:ext cx="2386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dirty="0">
                <a:solidFill>
                  <a:srgbClr val="1F3A5F"/>
                </a:solidFill>
                <a:latin typeface="Montserrat" panose="02000505000000020004" pitchFamily="2" charset="0"/>
              </a:rPr>
              <a:t>(+51) 927 215 240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333A74-0EB5-273B-4138-1A741BD18217}"/>
              </a:ext>
            </a:extLst>
          </p:cNvPr>
          <p:cNvSpPr txBox="1"/>
          <p:nvPr/>
        </p:nvSpPr>
        <p:spPr>
          <a:xfrm>
            <a:off x="4760214" y="5077534"/>
            <a:ext cx="26715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dirty="0">
                <a:solidFill>
                  <a:srgbClr val="1F3A5F"/>
                </a:solidFill>
                <a:latin typeface="Montserrat" panose="02000505000000020004" pitchFamily="2" charset="0"/>
              </a:rPr>
              <a:t>bchurata3@gmail.com</a:t>
            </a:r>
          </a:p>
        </p:txBody>
      </p:sp>
    </p:spTree>
    <p:extLst>
      <p:ext uri="{BB962C8B-B14F-4D97-AF65-F5344CB8AC3E}">
        <p14:creationId xmlns:p14="http://schemas.microsoft.com/office/powerpoint/2010/main" val="2384730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3386</TotalTime>
  <Words>246</Words>
  <Application>Microsoft Office PowerPoint</Application>
  <PresentationFormat>Widescreen</PresentationFormat>
  <Paragraphs>62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Montserrat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Brayan Churata</dc:creator>
  <cp:lastModifiedBy>Brayan Churata</cp:lastModifiedBy>
  <cp:revision>10</cp:revision>
  <dcterms:created xsi:type="dcterms:W3CDTF">2026-03-28T02:28:02Z</dcterms:created>
  <dcterms:modified xsi:type="dcterms:W3CDTF">2026-04-22T03:20:17Z</dcterms:modified>
</cp:coreProperties>
</file>